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818" r:id="rId2"/>
    <p:sldMasterId id="2147483842" r:id="rId3"/>
  </p:sldMasterIdLst>
  <p:sldIdLst>
    <p:sldId id="25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58" r:id="rId13"/>
  </p:sldIdLst>
  <p:sldSz cx="9144000" cy="5143500" type="screen16x9"/>
  <p:notesSz cx="7010400" cy="9296400"/>
  <p:defaultTextStyle>
    <a:defPPr>
      <a:defRPr lang="en-US"/>
    </a:defPPr>
    <a:lvl1pPr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1pPr>
    <a:lvl2pPr marL="3429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2pPr>
    <a:lvl3pPr marL="6858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3pPr>
    <a:lvl4pPr marL="10287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4pPr>
    <a:lvl5pPr marL="13716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5pPr>
    <a:lvl6pPr marL="1714500" algn="l" defTabSz="6858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6pPr>
    <a:lvl7pPr marL="2057400" algn="l" defTabSz="6858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7pPr>
    <a:lvl8pPr marL="2400300" algn="l" defTabSz="6858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8pPr>
    <a:lvl9pPr marL="2743200" algn="l" defTabSz="6858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71" d="100"/>
          <a:sy n="171" d="100"/>
        </p:scale>
        <p:origin x="-45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2553380"/>
            <a:ext cx="9144000" cy="2590119"/>
          </a:xfrm>
          <a:prstGeom prst="rect">
            <a:avLst/>
          </a:prstGeom>
          <a:solidFill>
            <a:srgbClr val="0070C0"/>
          </a:solidFill>
          <a:effectLst>
            <a:outerShdw sx="1000" sy="1000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-36738"/>
            <a:ext cx="9144000" cy="15351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5" y="2723247"/>
            <a:ext cx="6824134" cy="673100"/>
          </a:xfrm>
        </p:spPr>
        <p:txBody>
          <a:bodyPr>
            <a:normAutofit/>
          </a:bodyPr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935" y="3424243"/>
            <a:ext cx="6824135" cy="362849"/>
          </a:xfrm>
        </p:spPr>
        <p:txBody>
          <a:bodyPr/>
          <a:lstStyle>
            <a:lvl1pPr marL="0" indent="0" algn="ctr">
              <a:buNone/>
              <a:defRPr sz="1013">
                <a:solidFill>
                  <a:srgbClr val="FFFFFF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377" y="812049"/>
            <a:ext cx="4731343" cy="769850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2456554"/>
            <a:ext cx="9144000" cy="47738"/>
          </a:xfrm>
          <a:prstGeom prst="rect">
            <a:avLst/>
          </a:prstGeom>
          <a:solidFill>
            <a:srgbClr val="0070C0"/>
          </a:solidFill>
          <a:effectLst>
            <a:outerShdw sx="1000" sy="1000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>
                <a:solidFill>
                  <a:srgbClr val="595959"/>
                </a:solidFill>
              </a:defRPr>
            </a:lvl1pPr>
            <a:lvl2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2pPr>
            <a:lvl3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3pPr>
            <a:lvl4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4pPr>
            <a:lvl5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53900"/>
            <a:ext cx="2218506" cy="27003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/>
          <p:cNvSpPr/>
          <p:nvPr userDrawn="1"/>
        </p:nvSpPr>
        <p:spPr>
          <a:xfrm>
            <a:off x="6155475" y="532720"/>
            <a:ext cx="2988600" cy="4610779"/>
          </a:xfrm>
          <a:prstGeom prst="rect">
            <a:avLst/>
          </a:prstGeom>
          <a:solidFill>
            <a:srgbClr val="E6E7E9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962027"/>
            <a:ext cx="5369442" cy="3632597"/>
          </a:xfrm>
        </p:spPr>
        <p:txBody>
          <a:bodyPr/>
          <a:lstStyle>
            <a:lvl1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>
                <a:solidFill>
                  <a:srgbClr val="595959"/>
                </a:solidFill>
              </a:defRPr>
            </a:lvl1pPr>
            <a:lvl2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2pPr>
            <a:lvl3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3pPr>
            <a:lvl4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4pPr>
            <a:lvl5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53900"/>
            <a:ext cx="2218506" cy="27003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351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2978"/>
            <a:ext cx="4038600" cy="3651649"/>
          </a:xfrm>
        </p:spPr>
        <p:txBody>
          <a:bodyPr/>
          <a:lstStyle>
            <a:lvl1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575"/>
            </a:lvl1pPr>
            <a:lvl2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350"/>
            </a:lvl2pPr>
            <a:lvl3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125"/>
            </a:lvl3pPr>
            <a:lvl4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013"/>
            </a:lvl4pPr>
            <a:lvl5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42978"/>
            <a:ext cx="4038600" cy="3651649"/>
          </a:xfrm>
        </p:spPr>
        <p:txBody>
          <a:bodyPr/>
          <a:lstStyle>
            <a:lvl1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575"/>
            </a:lvl1pPr>
            <a:lvl2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350"/>
            </a:lvl2pPr>
            <a:lvl3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125"/>
            </a:lvl3pPr>
            <a:lvl4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013"/>
            </a:lvl4pPr>
            <a:lvl5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Clr>
                <a:schemeClr val="tx1"/>
              </a:buCl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51130"/>
            <a:ext cx="2218506" cy="27003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7" y="4713735"/>
            <a:ext cx="2218506" cy="27003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366681" y="4720559"/>
            <a:ext cx="2218506" cy="27003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>
                <a:solidFill>
                  <a:srgbClr val="595959"/>
                </a:solidFill>
              </a:defRPr>
            </a:lvl1pPr>
            <a:lvl2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2pPr>
            <a:lvl3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3pPr>
            <a:lvl4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4pPr>
            <a:lvl5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53900"/>
            <a:ext cx="2218506" cy="27003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483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67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>
                <a:solidFill>
                  <a:srgbClr val="595959"/>
                </a:solidFill>
              </a:defRPr>
            </a:lvl1pPr>
            <a:lvl2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2pPr>
            <a:lvl3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3pPr>
            <a:lvl4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4pPr>
            <a:lvl5pPr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53900"/>
            <a:ext cx="2218506" cy="27003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18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80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" y="-1"/>
            <a:ext cx="9143999" cy="53272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222"/>
            <a:ext cx="8466138" cy="50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62027"/>
            <a:ext cx="8229600" cy="363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1784350" y="4826377"/>
            <a:ext cx="55689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>
                <a:solidFill>
                  <a:srgbClr val="595959"/>
                </a:solidFill>
                <a:latin typeface="Gotham Pro Black Regular"/>
                <a:cs typeface="Proxima Nova Regular"/>
              </a:rPr>
              <a:t>Copyright 2015 ROKITT™</a:t>
            </a:r>
            <a:r>
              <a:rPr lang="en-US" sz="600" baseline="0" dirty="0" smtClean="0">
                <a:solidFill>
                  <a:srgbClr val="595959"/>
                </a:solidFill>
                <a:latin typeface="Gotham Pro Black Regular"/>
                <a:cs typeface="Proxima Nova Regular"/>
              </a:rPr>
              <a:t> | www.rokittech.com </a:t>
            </a:r>
            <a:endParaRPr lang="en-US" sz="600" dirty="0">
              <a:solidFill>
                <a:srgbClr val="595959"/>
              </a:solidFill>
              <a:latin typeface="Gotham Pro Black Regular"/>
              <a:cs typeface="Proxima Nova Regula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813687"/>
            <a:ext cx="1124630" cy="182992"/>
          </a:xfrm>
          <a:prstGeom prst="rect">
            <a:avLst/>
          </a:prstGeom>
        </p:spPr>
      </p:pic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29961"/>
            <a:ext cx="2218506" cy="270030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60" r:id="rId3"/>
    <p:sldLayoutId id="2147483814" r:id="rId4"/>
    <p:sldLayoutId id="2147483815" r:id="rId5"/>
    <p:sldLayoutId id="2147483816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257175" rtl="0" eaLnBrk="1" fontAlgn="base" hangingPunct="1">
        <a:spcBef>
          <a:spcPct val="0"/>
        </a:spcBef>
        <a:spcAft>
          <a:spcPct val="0"/>
        </a:spcAft>
        <a:defRPr sz="1350" kern="1200">
          <a:solidFill>
            <a:schemeClr val="bg1"/>
          </a:solidFill>
          <a:latin typeface="Proxima Nova Regular"/>
          <a:ea typeface="MS PGothic" pitchFamily="34" charset="-128"/>
          <a:cs typeface="Proxima Nova Regular"/>
        </a:defRPr>
      </a:lvl1pPr>
      <a:lvl2pPr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2pPr>
      <a:lvl3pPr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3pPr>
      <a:lvl4pPr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4pPr>
      <a:lvl5pPr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5pPr>
      <a:lvl6pPr marL="257175"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6pPr>
      <a:lvl7pPr marL="514350"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7pPr>
      <a:lvl8pPr marL="771525"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8pPr>
      <a:lvl9pPr marL="1028700" algn="r" defTabSz="257175" rtl="0" eaLnBrk="1" fontAlgn="base" hangingPunct="1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9pPr>
    </p:titleStyle>
    <p:bodyStyle>
      <a:lvl1pPr marL="192881" indent="-192881" algn="l" defTabSz="257175" rtl="0" eaLnBrk="1" fontAlgn="base" hangingPunct="1">
        <a:lnSpc>
          <a:spcPct val="150000"/>
        </a:lnSpc>
        <a:spcBef>
          <a:spcPts val="169"/>
        </a:spcBef>
        <a:spcAft>
          <a:spcPts val="169"/>
        </a:spcAft>
        <a:buFont typeface="Arial" charset="0"/>
        <a:buChar char="•"/>
        <a:defRPr sz="1800" kern="1200">
          <a:solidFill>
            <a:srgbClr val="285EAC"/>
          </a:solidFill>
          <a:latin typeface="Proxima Nova Regular"/>
          <a:ea typeface="MS PGothic" pitchFamily="34" charset="-128"/>
          <a:cs typeface="Proxima Nova Regular"/>
        </a:defRPr>
      </a:lvl1pPr>
      <a:lvl2pPr marL="417910" indent="-160735" algn="l" defTabSz="257175" rtl="0" eaLnBrk="1" fontAlgn="base" hangingPunct="1">
        <a:spcBef>
          <a:spcPts val="169"/>
        </a:spcBef>
        <a:spcAft>
          <a:spcPts val="169"/>
        </a:spcAft>
        <a:buFont typeface="Arial" charset="0"/>
        <a:buChar char="–"/>
        <a:defRPr sz="157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2pPr>
      <a:lvl3pPr marL="642938" indent="-128588" algn="l" defTabSz="257175" rtl="0" eaLnBrk="1" fontAlgn="base" hangingPunct="1">
        <a:spcBef>
          <a:spcPts val="169"/>
        </a:spcBef>
        <a:spcAft>
          <a:spcPts val="169"/>
        </a:spcAft>
        <a:buFont typeface="Arial" charset="0"/>
        <a:buChar char="•"/>
        <a:defRPr sz="1350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3pPr>
      <a:lvl4pPr marL="900113" indent="-128588" algn="l" defTabSz="257175" rtl="0" eaLnBrk="1" fontAlgn="base" hangingPunct="1">
        <a:spcBef>
          <a:spcPts val="169"/>
        </a:spcBef>
        <a:spcAft>
          <a:spcPts val="169"/>
        </a:spcAft>
        <a:buFont typeface="Arial" charset="0"/>
        <a:buChar char="–"/>
        <a:defRPr sz="112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4pPr>
      <a:lvl5pPr marL="1157288" indent="-128588" algn="l" defTabSz="257175" rtl="0" eaLnBrk="1" fontAlgn="base" hangingPunct="1">
        <a:spcBef>
          <a:spcPts val="169"/>
        </a:spcBef>
        <a:spcAft>
          <a:spcPts val="169"/>
        </a:spcAft>
        <a:buFont typeface="Arial" charset="0"/>
        <a:buChar char="»"/>
        <a:defRPr sz="112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5pPr>
      <a:lvl6pPr marL="141446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5199408"/>
          </a:xfrm>
          <a:prstGeom prst="rect">
            <a:avLst/>
          </a:prstGeom>
          <a:solidFill>
            <a:srgbClr val="EAEA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-1"/>
            <a:ext cx="9143999" cy="45719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222"/>
            <a:ext cx="8466138" cy="50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62027"/>
            <a:ext cx="8229600" cy="363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4350" y="4826377"/>
            <a:ext cx="55689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>
                <a:solidFill>
                  <a:srgbClr val="595959"/>
                </a:solidFill>
                <a:latin typeface="Gotham Pro Black Regular"/>
                <a:cs typeface="Proxima Nova Regular"/>
              </a:rPr>
              <a:t>Copyright 2015 ROKITT™</a:t>
            </a:r>
            <a:r>
              <a:rPr lang="en-US" sz="600" baseline="0" dirty="0" smtClean="0">
                <a:solidFill>
                  <a:srgbClr val="595959"/>
                </a:solidFill>
                <a:latin typeface="Gotham Pro Black Regular"/>
                <a:cs typeface="Proxima Nova Regular"/>
              </a:rPr>
              <a:t> | www.rokittech.com </a:t>
            </a:r>
            <a:endParaRPr lang="en-US" sz="600" dirty="0">
              <a:solidFill>
                <a:srgbClr val="595959"/>
              </a:solidFill>
              <a:latin typeface="Gotham Pro Black Regular"/>
              <a:cs typeface="Proxima Nova Regula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813687"/>
            <a:ext cx="1124630" cy="182992"/>
          </a:xfrm>
          <a:prstGeom prst="rect">
            <a:avLst/>
          </a:prstGeom>
        </p:spPr>
      </p:pic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29961"/>
            <a:ext cx="2218506" cy="270030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398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4" r:id="rId2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257175" rtl="0" eaLnBrk="0" fontAlgn="base" hangingPunct="0">
        <a:spcBef>
          <a:spcPct val="0"/>
        </a:spcBef>
        <a:spcAft>
          <a:spcPct val="0"/>
        </a:spcAft>
        <a:defRPr sz="1350" kern="1200">
          <a:solidFill>
            <a:srgbClr val="0E0E0E"/>
          </a:solidFill>
          <a:latin typeface="Gotham Pro Medium Regular"/>
          <a:ea typeface="MS PGothic" pitchFamily="34" charset="-128"/>
          <a:cs typeface="Proxima Nova Regular"/>
        </a:defRPr>
      </a:lvl1pPr>
      <a:lvl2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2pPr>
      <a:lvl3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3pPr>
      <a:lvl4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4pPr>
      <a:lvl5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5pPr>
      <a:lvl6pPr marL="257175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6pPr>
      <a:lvl7pPr marL="514350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7pPr>
      <a:lvl8pPr marL="771525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8pPr>
      <a:lvl9pPr marL="1028700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9pPr>
    </p:titleStyle>
    <p:bodyStyle>
      <a:lvl1pPr marL="192881" indent="-192881" algn="l" defTabSz="257175" rtl="0" eaLnBrk="0" fontAlgn="base" hangingPunct="0">
        <a:lnSpc>
          <a:spcPct val="150000"/>
        </a:lnSpc>
        <a:spcBef>
          <a:spcPts val="169"/>
        </a:spcBef>
        <a:spcAft>
          <a:spcPts val="169"/>
        </a:spcAft>
        <a:buFont typeface="Arial" charset="0"/>
        <a:buChar char="•"/>
        <a:defRPr sz="1800" kern="1200">
          <a:solidFill>
            <a:srgbClr val="285EAC"/>
          </a:solidFill>
          <a:latin typeface="Proxima Nova Regular"/>
          <a:ea typeface="MS PGothic" pitchFamily="34" charset="-128"/>
          <a:cs typeface="Proxima Nova Regular"/>
        </a:defRPr>
      </a:lvl1pPr>
      <a:lvl2pPr marL="417910" indent="-160735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–"/>
        <a:defRPr sz="157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2pPr>
      <a:lvl3pPr marL="642938" indent="-128588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•"/>
        <a:defRPr sz="1350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3pPr>
      <a:lvl4pPr marL="900113" indent="-128588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–"/>
        <a:defRPr sz="112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4pPr>
      <a:lvl5pPr marL="1157288" indent="-128588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»"/>
        <a:defRPr sz="112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5pPr>
      <a:lvl6pPr marL="141446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5199408"/>
          </a:xfrm>
          <a:prstGeom prst="rect">
            <a:avLst/>
          </a:prstGeom>
          <a:solidFill>
            <a:srgbClr val="EAEA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" y="-1"/>
            <a:ext cx="9143999" cy="45719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222"/>
            <a:ext cx="8466138" cy="50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62027"/>
            <a:ext cx="8229600" cy="363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4350" y="4826377"/>
            <a:ext cx="55689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>
                <a:solidFill>
                  <a:srgbClr val="595959"/>
                </a:solidFill>
                <a:latin typeface="Gotham Pro Black Regular"/>
                <a:cs typeface="Proxima Nova Regular"/>
              </a:rPr>
              <a:t>Copyright 2015 ROKITT™</a:t>
            </a:r>
            <a:r>
              <a:rPr lang="en-US" sz="600" baseline="0" dirty="0" smtClean="0">
                <a:solidFill>
                  <a:srgbClr val="595959"/>
                </a:solidFill>
                <a:latin typeface="Gotham Pro Black Regular"/>
                <a:cs typeface="Proxima Nova Regular"/>
              </a:rPr>
              <a:t> | www.rokittech.com </a:t>
            </a:r>
            <a:endParaRPr lang="en-US" sz="600" dirty="0">
              <a:solidFill>
                <a:srgbClr val="595959"/>
              </a:solidFill>
              <a:latin typeface="Gotham Pro Black Regular"/>
              <a:cs typeface="Proxima Nova Regula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813687"/>
            <a:ext cx="1124630" cy="182992"/>
          </a:xfrm>
          <a:prstGeom prst="rect">
            <a:avLst/>
          </a:prstGeom>
        </p:spPr>
      </p:pic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68294" y="4729961"/>
            <a:ext cx="2218506" cy="270030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DB6E3726-F5CF-4879-A646-1587043CADEB}" type="slidenum">
              <a:rPr lang="en-US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066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58" r:id="rId2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257175" rtl="0" eaLnBrk="0" fontAlgn="base" hangingPunct="0">
        <a:spcBef>
          <a:spcPct val="0"/>
        </a:spcBef>
        <a:spcAft>
          <a:spcPct val="0"/>
        </a:spcAft>
        <a:defRPr sz="1350" kern="1200">
          <a:solidFill>
            <a:srgbClr val="0E0E0E"/>
          </a:solidFill>
          <a:latin typeface="Proxima Nova Regular"/>
          <a:ea typeface="MS PGothic" pitchFamily="34" charset="-128"/>
          <a:cs typeface="Proxima Nova Regular"/>
        </a:defRPr>
      </a:lvl1pPr>
      <a:lvl2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2pPr>
      <a:lvl3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3pPr>
      <a:lvl4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4pPr>
      <a:lvl5pPr algn="r" defTabSz="257175" rtl="0" eaLnBrk="0" fontAlgn="base" hangingPunct="0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  <a:cs typeface="Arial" charset="0"/>
        </a:defRPr>
      </a:lvl5pPr>
      <a:lvl6pPr marL="257175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6pPr>
      <a:lvl7pPr marL="514350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7pPr>
      <a:lvl8pPr marL="771525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8pPr>
      <a:lvl9pPr marL="1028700" algn="r" defTabSz="257175" rtl="0" fontAlgn="base">
        <a:spcBef>
          <a:spcPct val="0"/>
        </a:spcBef>
        <a:spcAft>
          <a:spcPct val="0"/>
        </a:spcAft>
        <a:defRPr sz="2025">
          <a:solidFill>
            <a:srgbClr val="FFFFFF"/>
          </a:solidFill>
          <a:latin typeface="Arial" pitchFamily="34" charset="0"/>
          <a:ea typeface="MS PGothic" pitchFamily="34" charset="-128"/>
        </a:defRPr>
      </a:lvl9pPr>
    </p:titleStyle>
    <p:bodyStyle>
      <a:lvl1pPr marL="192881" indent="-192881" algn="l" defTabSz="257175" rtl="0" eaLnBrk="0" fontAlgn="base" hangingPunct="0">
        <a:lnSpc>
          <a:spcPct val="150000"/>
        </a:lnSpc>
        <a:spcBef>
          <a:spcPts val="169"/>
        </a:spcBef>
        <a:spcAft>
          <a:spcPts val="169"/>
        </a:spcAft>
        <a:buFont typeface="Arial" charset="0"/>
        <a:buChar char="•"/>
        <a:defRPr sz="1800" kern="1200">
          <a:solidFill>
            <a:srgbClr val="285EAC"/>
          </a:solidFill>
          <a:latin typeface="Proxima Nova Regular"/>
          <a:ea typeface="MS PGothic" pitchFamily="34" charset="-128"/>
          <a:cs typeface="Proxima Nova Regular"/>
        </a:defRPr>
      </a:lvl1pPr>
      <a:lvl2pPr marL="417910" indent="-160735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–"/>
        <a:defRPr sz="157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2pPr>
      <a:lvl3pPr marL="642938" indent="-128588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•"/>
        <a:defRPr sz="1350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3pPr>
      <a:lvl4pPr marL="900113" indent="-128588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–"/>
        <a:defRPr sz="112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4pPr>
      <a:lvl5pPr marL="1157288" indent="-128588" algn="l" defTabSz="257175" rtl="0" eaLnBrk="0" fontAlgn="base" hangingPunct="0">
        <a:spcBef>
          <a:spcPts val="169"/>
        </a:spcBef>
        <a:spcAft>
          <a:spcPts val="169"/>
        </a:spcAft>
        <a:buFont typeface="Arial" charset="0"/>
        <a:buChar char="»"/>
        <a:defRPr sz="1125" kern="1200">
          <a:solidFill>
            <a:srgbClr val="595959"/>
          </a:solidFill>
          <a:latin typeface="Proxima Nova Regular"/>
          <a:ea typeface="MS PGothic" pitchFamily="34" charset="-128"/>
          <a:cs typeface="Proxima Nova Regular"/>
        </a:defRPr>
      </a:lvl5pPr>
      <a:lvl6pPr marL="141446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Rokitt Astra platform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400" dirty="0" smtClean="0"/>
              <a:t>Data Sub-setting Use case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8088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Astra platform. Data sub-setting support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Data sub-setting is a procedure of extracting a subset of the database or the other data-source with a respect to the referential integrity of the extracted data.</a:t>
            </a:r>
          </a:p>
          <a:p>
            <a:pPr marL="0" indent="0">
              <a:buNone/>
            </a:pPr>
            <a:r>
              <a:rPr lang="en-US" dirty="0" smtClean="0"/>
              <a:t>The results of sub-setting are greatly depended on the requirements and constraints defined by user.</a:t>
            </a:r>
          </a:p>
          <a:p>
            <a:pPr marL="0" indent="0">
              <a:buNone/>
            </a:pPr>
            <a:r>
              <a:rPr lang="en-US" dirty="0" smtClean="0"/>
              <a:t>The minimal set of requirements should include:</a:t>
            </a:r>
          </a:p>
          <a:p>
            <a:r>
              <a:rPr lang="en-US" dirty="0" smtClean="0"/>
              <a:t>The master table(s) or entity(s) that will be used as a starting point for the sub-setting;</a:t>
            </a:r>
          </a:p>
          <a:p>
            <a:r>
              <a:rPr lang="en-US" dirty="0" smtClean="0"/>
              <a:t>The data sampling schema – random, systematic, convenience, cluster, stratified, or user defined.</a:t>
            </a:r>
          </a:p>
          <a:p>
            <a:pPr marL="0" indent="0">
              <a:buNone/>
            </a:pPr>
            <a:r>
              <a:rPr lang="en-US" dirty="0" smtClean="0"/>
              <a:t>The constraints may further refine sub-setting results by exposing limits on selected data and rules that conduct data extraction procedures:</a:t>
            </a:r>
          </a:p>
          <a:p>
            <a:r>
              <a:rPr lang="en-US" dirty="0" smtClean="0"/>
              <a:t>Size of the sample for the starting set of the entities;</a:t>
            </a:r>
          </a:p>
          <a:p>
            <a:r>
              <a:rPr lang="en-US" dirty="0" smtClean="0"/>
              <a:t>List of the specific entities that have to be presented in the data subset;</a:t>
            </a:r>
          </a:p>
          <a:p>
            <a:r>
              <a:rPr lang="en-US" dirty="0" smtClean="0"/>
              <a:t>Attributes that should be included into the resulting dataset and etc.</a:t>
            </a:r>
          </a:p>
          <a:p>
            <a:pPr marL="0" indent="0">
              <a:buNone/>
            </a:pPr>
            <a:r>
              <a:rPr lang="en-US" dirty="0" smtClean="0"/>
              <a:t>To ensure a high quality of the resulting dataset the sub-setting procedures should support multivariate sub-settings that will deliver multiple result sets.</a:t>
            </a:r>
          </a:p>
          <a:p>
            <a:pPr marL="0" indent="0">
              <a:buNone/>
            </a:pPr>
            <a:r>
              <a:rPr lang="en-US" dirty="0" smtClean="0"/>
              <a:t>The minimal size sub-setting result that meets all requirements and constraints we would consider as an optimal.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332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JSON presentation of the Metadata Graph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smtClean="0"/>
              <a:t>Astra Data discovery builds a Metadata Graph that exceed information that can be collected from metadata of the </a:t>
            </a:r>
            <a:r>
              <a:rPr lang="en-US" dirty="0"/>
              <a:t>D</a:t>
            </a:r>
            <a:r>
              <a:rPr lang="en-US" dirty="0" smtClean="0"/>
              <a:t>atabases. In order to use this extended meta-information in data sub-setting, it should be converted into JSON, because this is the data exchange format used by Astra platform.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NPM JSON Graph specification is a very promising proposition that is equally suitable for applying on Front End as well as on Back End of the applications.</a:t>
            </a:r>
          </a:p>
          <a:p>
            <a:pPr marL="0" indent="0">
              <a:buNone/>
            </a:pPr>
            <a:r>
              <a:rPr lang="en-US" dirty="0"/>
              <a:t>Design </a:t>
            </a:r>
            <a:r>
              <a:rPr lang="en-US" dirty="0" smtClean="0"/>
              <a:t>principles (as they </a:t>
            </a:r>
            <a:r>
              <a:rPr lang="en-US" dirty="0"/>
              <a:t>are defined </a:t>
            </a:r>
            <a:r>
              <a:rPr lang="en-US" dirty="0" smtClean="0"/>
              <a:t>on https</a:t>
            </a:r>
            <a:r>
              <a:rPr lang="en-US" dirty="0"/>
              <a:t>://</a:t>
            </a:r>
            <a:r>
              <a:rPr lang="en-US" dirty="0" err="1"/>
              <a:t>www.npmjs.com</a:t>
            </a:r>
            <a:r>
              <a:rPr lang="en-US" dirty="0"/>
              <a:t>/package/</a:t>
            </a:r>
            <a:r>
              <a:rPr lang="en-US" dirty="0" err="1"/>
              <a:t>json</a:t>
            </a:r>
            <a:r>
              <a:rPr lang="en-US" dirty="0"/>
              <a:t>-graph-</a:t>
            </a:r>
            <a:r>
              <a:rPr lang="en-US" dirty="0" smtClean="0"/>
              <a:t>specification):</a:t>
            </a:r>
            <a:endParaRPr lang="en-US" dirty="0"/>
          </a:p>
          <a:p>
            <a:r>
              <a:rPr lang="en-US" dirty="0"/>
              <a:t>Use meaningful property names that reflect the semantic type of the value.</a:t>
            </a:r>
          </a:p>
          <a:p>
            <a:r>
              <a:rPr lang="en-US" dirty="0"/>
              <a:t>Property names should not be excessively long.</a:t>
            </a:r>
          </a:p>
          <a:p>
            <a:r>
              <a:rPr lang="en-US" dirty="0"/>
              <a:t>Property names should be plural when value is an array.</a:t>
            </a:r>
          </a:p>
          <a:p>
            <a:r>
              <a:rPr lang="en-US" dirty="0"/>
              <a:t>Properties that allow a null value can be omitted.</a:t>
            </a:r>
          </a:p>
          <a:p>
            <a:r>
              <a:rPr lang="en-US" dirty="0"/>
              <a:t>Define a JSON graph schema_ for content validation purposes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This specification is using a very limited and well defined set of constructs:</a:t>
            </a:r>
          </a:p>
          <a:p>
            <a:r>
              <a:rPr lang="en-US" dirty="0" smtClean="0"/>
              <a:t>Node object;</a:t>
            </a:r>
          </a:p>
          <a:p>
            <a:r>
              <a:rPr lang="en-US" dirty="0" smtClean="0"/>
              <a:t>Node properties;</a:t>
            </a:r>
          </a:p>
          <a:p>
            <a:r>
              <a:rPr lang="en-US" dirty="0" smtClean="0"/>
              <a:t>Edge object;</a:t>
            </a:r>
          </a:p>
          <a:p>
            <a:r>
              <a:rPr lang="en-US" dirty="0" smtClean="0"/>
              <a:t>Edge properties;</a:t>
            </a:r>
          </a:p>
          <a:p>
            <a:r>
              <a:rPr lang="en-US" dirty="0" smtClean="0"/>
              <a:t>Graph object;</a:t>
            </a:r>
          </a:p>
          <a:p>
            <a:r>
              <a:rPr lang="en-US" dirty="0" smtClean="0"/>
              <a:t>Graph properties;</a:t>
            </a:r>
          </a:p>
          <a:p>
            <a:r>
              <a:rPr lang="en-US" dirty="0" smtClean="0"/>
              <a:t>Graphs object (to describe a collection of graphs);</a:t>
            </a:r>
          </a:p>
          <a:p>
            <a:r>
              <a:rPr lang="en-US" dirty="0" smtClean="0"/>
              <a:t>Graphs properties.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06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Example of JSON Graph specification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414" y="962027"/>
            <a:ext cx="3498114" cy="3632597"/>
          </a:xfrm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FR" dirty="0"/>
              <a:t>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"graph":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"</a:t>
            </a:r>
            <a:r>
              <a:rPr lang="fr-FR" dirty="0" err="1"/>
              <a:t>nodes</a:t>
            </a:r>
            <a:r>
              <a:rPr lang="fr-FR" dirty="0"/>
              <a:t>": [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    "id": "A",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},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    "id": "B",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],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"</a:t>
            </a:r>
            <a:r>
              <a:rPr lang="fr-FR" dirty="0" err="1"/>
              <a:t>edges</a:t>
            </a:r>
            <a:r>
              <a:rPr lang="fr-FR" dirty="0"/>
              <a:t>": [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    "source": "A",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    "</a:t>
            </a:r>
            <a:r>
              <a:rPr lang="fr-FR" dirty="0" err="1"/>
              <a:t>target</a:t>
            </a:r>
            <a:r>
              <a:rPr lang="fr-FR" dirty="0"/>
              <a:t>": "B"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    ]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dirty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4</a:t>
            </a:fld>
            <a:endParaRPr lang="ru-RU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328392" y="959809"/>
            <a:ext cx="4467014" cy="3632597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40000" lnSpcReduction="20000"/>
          </a:bodyPr>
          <a:lstStyle>
            <a:lvl1pPr marL="192881" indent="-192881" algn="l" defTabSz="257175" rtl="0" eaLnBrk="1" fontAlgn="base" hangingPunct="1"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Font typeface="Arial" charset="0"/>
              <a:buChar char="•"/>
              <a:defRPr sz="1800" kern="1200">
                <a:solidFill>
                  <a:srgbClr val="595959"/>
                </a:solidFill>
                <a:latin typeface="Proxima Nova Regular"/>
                <a:ea typeface="MS PGothic" pitchFamily="34" charset="-128"/>
                <a:cs typeface="Proxima Nova Regular"/>
              </a:defRPr>
            </a:lvl1pPr>
            <a:lvl2pPr marL="417910" indent="-160735" algn="l" defTabSz="257175" rtl="0" eaLnBrk="1" fontAlgn="base" hangingPunct="1"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Font typeface="Arial" charset="0"/>
              <a:buChar char="–"/>
              <a:defRPr sz="1575" kern="1200">
                <a:solidFill>
                  <a:srgbClr val="595959"/>
                </a:solidFill>
                <a:latin typeface="Proxima Nova Regular"/>
                <a:ea typeface="MS PGothic" pitchFamily="34" charset="-128"/>
                <a:cs typeface="Proxima Nova Regular"/>
              </a:defRPr>
            </a:lvl2pPr>
            <a:lvl3pPr marL="642938" indent="-128588" algn="l" defTabSz="257175" rtl="0" eaLnBrk="1" fontAlgn="base" hangingPunct="1"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Font typeface="Arial" charset="0"/>
              <a:buChar char="•"/>
              <a:defRPr sz="1350" kern="1200">
                <a:solidFill>
                  <a:srgbClr val="595959"/>
                </a:solidFill>
                <a:latin typeface="Proxima Nova Regular"/>
                <a:ea typeface="MS PGothic" pitchFamily="34" charset="-128"/>
                <a:cs typeface="Proxima Nova Regular"/>
              </a:defRPr>
            </a:lvl3pPr>
            <a:lvl4pPr marL="900113" indent="-128588" algn="l" defTabSz="257175" rtl="0" eaLnBrk="1" fontAlgn="base" hangingPunct="1"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Font typeface="Arial" charset="0"/>
              <a:buChar char="–"/>
              <a:defRPr sz="1125" kern="1200">
                <a:solidFill>
                  <a:srgbClr val="595959"/>
                </a:solidFill>
                <a:latin typeface="Proxima Nova Regular"/>
                <a:ea typeface="MS PGothic" pitchFamily="34" charset="-128"/>
                <a:cs typeface="Proxima Nova Regular"/>
              </a:defRPr>
            </a:lvl4pPr>
            <a:lvl5pPr marL="1157288" indent="-128588" algn="l" defTabSz="257175" rtl="0" eaLnBrk="1" fontAlgn="base" hangingPunct="1">
              <a:lnSpc>
                <a:spcPct val="100000"/>
              </a:lnSpc>
              <a:spcBef>
                <a:spcPts val="338"/>
              </a:spcBef>
              <a:spcAft>
                <a:spcPts val="338"/>
              </a:spcAft>
              <a:buFont typeface="Arial" charset="0"/>
              <a:buChar char="»"/>
              <a:defRPr sz="1125" kern="1200">
                <a:solidFill>
                  <a:srgbClr val="595959"/>
                </a:solidFill>
                <a:latin typeface="Proxima Nova Regular"/>
                <a:ea typeface="MS PGothic" pitchFamily="34" charset="-128"/>
                <a:cs typeface="Proxima Nova Regular"/>
              </a:defRPr>
            </a:lvl5pPr>
            <a:lvl6pPr marL="1414463" indent="-128588" algn="l" defTabSz="257175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257175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257175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257175" rtl="0" eaLnBrk="1" latinLnBrk="0" hangingPunct="1">
              <a:spcBef>
                <a:spcPct val="20000"/>
              </a:spcBef>
              <a:buFont typeface="Arial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"graphs": </a:t>
            </a:r>
            <a:r>
              <a:rPr lang="en-US" dirty="0" smtClean="0"/>
              <a:t>[{ "</a:t>
            </a:r>
            <a:r>
              <a:rPr lang="en-US" dirty="0"/>
              <a:t>directed": true</a:t>
            </a:r>
            <a:r>
              <a:rPr lang="en-US" dirty="0" smtClean="0"/>
              <a:t>, "</a:t>
            </a:r>
            <a:r>
              <a:rPr lang="en-US" dirty="0"/>
              <a:t>type": "graph type"</a:t>
            </a:r>
            <a:r>
              <a:rPr lang="en-US" dirty="0" smtClean="0"/>
              <a:t>, ”label</a:t>
            </a:r>
            <a:r>
              <a:rPr lang="en-US" dirty="0"/>
              <a:t>": "graph </a:t>
            </a:r>
            <a:r>
              <a:rPr lang="en-US" dirty="0" smtClean="0"/>
              <a:t>label”,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/>
              <a:t>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 </a:t>
            </a:r>
            <a:r>
              <a:rPr lang="en-US" dirty="0"/>
              <a:t>},</a:t>
            </a:r>
          </a:p>
          <a:p>
            <a:pPr marL="0" indent="0">
              <a:buNone/>
            </a:pPr>
            <a:r>
              <a:rPr lang="en-US" dirty="0"/>
              <a:t>            "nodes": [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smtClean="0"/>
              <a:t>{"</a:t>
            </a:r>
            <a:r>
              <a:rPr lang="en-US" dirty="0"/>
              <a:t>id": "</a:t>
            </a:r>
            <a:r>
              <a:rPr lang="en-US" dirty="0" smtClean="0"/>
              <a:t>0”, </a:t>
            </a:r>
            <a:r>
              <a:rPr lang="en-US" dirty="0"/>
              <a:t>"type": "node </a:t>
            </a:r>
            <a:r>
              <a:rPr lang="en-US" dirty="0" smtClean="0"/>
              <a:t>type”, </a:t>
            </a:r>
            <a:r>
              <a:rPr lang="en-US" dirty="0"/>
              <a:t>"label": "node label(0)",</a:t>
            </a:r>
          </a:p>
          <a:p>
            <a:pPr marL="0" indent="0">
              <a:buNone/>
            </a:pPr>
            <a:r>
              <a:rPr lang="en-US" dirty="0"/>
              <a:t>                    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values”} </a:t>
            </a:r>
            <a:r>
              <a:rPr lang="en-US" dirty="0"/>
              <a:t>},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smtClean="0"/>
              <a:t>{"</a:t>
            </a:r>
            <a:r>
              <a:rPr lang="en-US" dirty="0"/>
              <a:t>id": "</a:t>
            </a:r>
            <a:r>
              <a:rPr lang="en-US" dirty="0" smtClean="0"/>
              <a:t>1”, </a:t>
            </a:r>
            <a:r>
              <a:rPr lang="en-US" dirty="0"/>
              <a:t>"type": "node </a:t>
            </a:r>
            <a:r>
              <a:rPr lang="en-US" dirty="0" smtClean="0"/>
              <a:t>type”, "</a:t>
            </a:r>
            <a:r>
              <a:rPr lang="en-US" dirty="0"/>
              <a:t>label": "node label(1</a:t>
            </a:r>
            <a:r>
              <a:rPr lang="en-US" dirty="0" smtClean="0"/>
              <a:t>)”,</a:t>
            </a:r>
          </a:p>
          <a:p>
            <a:pPr marL="0" indent="0">
              <a:buNone/>
            </a:pPr>
            <a:r>
              <a:rPr lang="en-US" dirty="0" smtClean="0"/>
              <a:t>               </a:t>
            </a:r>
            <a:r>
              <a:rPr lang="en-US" dirty="0"/>
              <a:t>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values”} } </a:t>
            </a:r>
            <a:r>
              <a:rPr lang="en-US" dirty="0"/>
              <a:t>],</a:t>
            </a:r>
          </a:p>
          <a:p>
            <a:pPr marL="0" indent="0">
              <a:buNone/>
            </a:pPr>
            <a:r>
              <a:rPr lang="en-US" dirty="0"/>
              <a:t>            "edges": </a:t>
            </a:r>
            <a:r>
              <a:rPr lang="en-US" dirty="0" smtClean="0"/>
              <a:t>[ { </a:t>
            </a:r>
            <a:r>
              <a:rPr lang="en-US" dirty="0"/>
              <a:t>"source": "</a:t>
            </a:r>
            <a:r>
              <a:rPr lang="en-US" dirty="0" smtClean="0"/>
              <a:t>0”, </a:t>
            </a:r>
            <a:r>
              <a:rPr lang="en-US" dirty="0"/>
              <a:t>"relation": "edge </a:t>
            </a:r>
            <a:r>
              <a:rPr lang="en-US" dirty="0" smtClean="0"/>
              <a:t>relationship”, </a:t>
            </a:r>
            <a:r>
              <a:rPr lang="en-US" dirty="0"/>
              <a:t>"target": "</a:t>
            </a:r>
            <a:r>
              <a:rPr lang="en-US" dirty="0" smtClean="0"/>
              <a:t>1”, "</a:t>
            </a:r>
            <a:r>
              <a:rPr lang="en-US" dirty="0"/>
              <a:t>directed": true</a:t>
            </a:r>
            <a:r>
              <a:rPr lang="en-US" dirty="0" smtClean="0"/>
              <a:t>, </a:t>
            </a:r>
          </a:p>
          <a:p>
            <a:pPr marL="0" indent="0">
              <a:buNone/>
            </a:pPr>
            <a:r>
              <a:rPr lang="en-US" dirty="0" smtClean="0"/>
              <a:t>"</a:t>
            </a:r>
            <a:r>
              <a:rPr lang="en-US" dirty="0"/>
              <a:t>label": "edge label",</a:t>
            </a:r>
          </a:p>
          <a:p>
            <a:pPr marL="0" indent="0">
              <a:buNone/>
            </a:pPr>
            <a:r>
              <a:rPr lang="en-US" dirty="0"/>
              <a:t>                    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values”} } ]}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smtClean="0"/>
              <a:t>{"</a:t>
            </a:r>
            <a:r>
              <a:rPr lang="en-US" dirty="0"/>
              <a:t>directed": true</a:t>
            </a:r>
            <a:r>
              <a:rPr lang="en-US" dirty="0" smtClean="0"/>
              <a:t>, "</a:t>
            </a:r>
            <a:r>
              <a:rPr lang="en-US" dirty="0"/>
              <a:t>type": "graph </a:t>
            </a:r>
            <a:r>
              <a:rPr lang="en-US" dirty="0" smtClean="0"/>
              <a:t>type”, "</a:t>
            </a:r>
            <a:r>
              <a:rPr lang="en-US" dirty="0"/>
              <a:t>label": "graph </a:t>
            </a:r>
            <a:r>
              <a:rPr lang="en-US" dirty="0" smtClean="0"/>
              <a:t>label”,</a:t>
            </a:r>
          </a:p>
          <a:p>
            <a:pPr marL="0" indent="0">
              <a:buNone/>
            </a:pPr>
            <a:r>
              <a:rPr lang="en-US" dirty="0" smtClean="0"/>
              <a:t>         </a:t>
            </a:r>
            <a:r>
              <a:rPr lang="en-US" dirty="0"/>
              <a:t>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values”},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/>
              <a:t>"nodes": </a:t>
            </a:r>
            <a:r>
              <a:rPr lang="en-US" dirty="0" smtClean="0"/>
              <a:t>[{"</a:t>
            </a:r>
            <a:r>
              <a:rPr lang="en-US" dirty="0"/>
              <a:t>id": "</a:t>
            </a:r>
            <a:r>
              <a:rPr lang="en-US" dirty="0" smtClean="0"/>
              <a:t>0”, </a:t>
            </a:r>
            <a:r>
              <a:rPr lang="en-US" dirty="0"/>
              <a:t>"type": "node </a:t>
            </a:r>
            <a:r>
              <a:rPr lang="en-US" dirty="0" smtClean="0"/>
              <a:t>type”, </a:t>
            </a:r>
            <a:r>
              <a:rPr lang="en-US" dirty="0"/>
              <a:t>"label": "node label(0)",</a:t>
            </a:r>
          </a:p>
          <a:p>
            <a:pPr marL="0" indent="0">
              <a:buNone/>
            </a:pPr>
            <a:r>
              <a:rPr lang="en-US" dirty="0"/>
              <a:t>                    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values”}}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smtClean="0"/>
              <a:t>{"</a:t>
            </a:r>
            <a:r>
              <a:rPr lang="en-US" dirty="0"/>
              <a:t>id": "</a:t>
            </a:r>
            <a:r>
              <a:rPr lang="en-US" dirty="0" smtClean="0"/>
              <a:t>1”,"</a:t>
            </a:r>
            <a:r>
              <a:rPr lang="en-US" dirty="0"/>
              <a:t>type": "node type"</a:t>
            </a:r>
            <a:r>
              <a:rPr lang="en-US" dirty="0" smtClean="0"/>
              <a:t>, "</a:t>
            </a:r>
            <a:r>
              <a:rPr lang="en-US" dirty="0"/>
              <a:t>label": "node label(1)",</a:t>
            </a:r>
          </a:p>
          <a:p>
            <a:pPr marL="0" indent="0">
              <a:buNone/>
            </a:pPr>
            <a:r>
              <a:rPr lang="en-US" dirty="0"/>
              <a:t>                    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values”} } ]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"edges": </a:t>
            </a:r>
            <a:r>
              <a:rPr lang="en-US" dirty="0" smtClean="0"/>
              <a:t>[{"</a:t>
            </a:r>
            <a:r>
              <a:rPr lang="en-US" dirty="0"/>
              <a:t>source": "</a:t>
            </a:r>
            <a:r>
              <a:rPr lang="en-US" dirty="0" smtClean="0"/>
              <a:t>1”, </a:t>
            </a:r>
            <a:r>
              <a:rPr lang="en-US" dirty="0"/>
              <a:t>"relation": "edge </a:t>
            </a:r>
            <a:r>
              <a:rPr lang="en-US" dirty="0" smtClean="0"/>
              <a:t>relationship”, "</a:t>
            </a:r>
            <a:r>
              <a:rPr lang="en-US" dirty="0"/>
              <a:t>target": "</a:t>
            </a:r>
            <a:r>
              <a:rPr lang="en-US" dirty="0" smtClean="0"/>
              <a:t>0”, "</a:t>
            </a:r>
            <a:r>
              <a:rPr lang="en-US" dirty="0"/>
              <a:t>directed": true</a:t>
            </a:r>
            <a:r>
              <a:rPr lang="en-US" dirty="0" smtClean="0"/>
              <a:t>, </a:t>
            </a:r>
          </a:p>
          <a:p>
            <a:pPr marL="0" indent="0">
              <a:buNone/>
            </a:pPr>
            <a:r>
              <a:rPr lang="en-US" dirty="0" smtClean="0"/>
              <a:t>"</a:t>
            </a:r>
            <a:r>
              <a:rPr lang="en-US" dirty="0"/>
              <a:t>label": "edge label",</a:t>
            </a:r>
          </a:p>
          <a:p>
            <a:pPr marL="0" indent="0">
              <a:buNone/>
            </a:pPr>
            <a:r>
              <a:rPr lang="en-US" dirty="0"/>
              <a:t>                    "metadata": </a:t>
            </a:r>
            <a:r>
              <a:rPr lang="en-US" dirty="0" smtClean="0"/>
              <a:t>{"</a:t>
            </a:r>
            <a:r>
              <a:rPr lang="en-US" dirty="0"/>
              <a:t>user-defined": "</a:t>
            </a:r>
            <a:r>
              <a:rPr lang="en-US" dirty="0" smtClean="0"/>
              <a:t>values”} } ] } ] }</a:t>
            </a:r>
            <a:endParaRPr lang="fr-FR" dirty="0" smtClean="0"/>
          </a:p>
          <a:p>
            <a:pPr marL="0" indent="0">
              <a:buFont typeface="Arial" charset="0"/>
              <a:buNone/>
            </a:pPr>
            <a:r>
              <a:rPr lang="fr-FR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81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JSON Graph Spec. Graph(s) object and properties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i="1" dirty="0" smtClean="0"/>
              <a:t>graph object:</a:t>
            </a:r>
            <a:endParaRPr lang="en-US" b="1" i="1" dirty="0"/>
          </a:p>
          <a:p>
            <a:pPr marL="0" indent="0">
              <a:buNone/>
            </a:pPr>
            <a:r>
              <a:rPr lang="en-US" dirty="0"/>
              <a:t>A graph object represents a single conceptual graph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i="1" dirty="0"/>
              <a:t>graph </a:t>
            </a:r>
            <a:r>
              <a:rPr lang="en-US" b="1" i="1" dirty="0" smtClean="0"/>
              <a:t>properties:</a:t>
            </a:r>
            <a:endParaRPr lang="en-US" b="1" i="1" dirty="0"/>
          </a:p>
          <a:p>
            <a:r>
              <a:rPr lang="en-US" dirty="0"/>
              <a:t>A </a:t>
            </a:r>
            <a:r>
              <a:rPr lang="en-US" b="1" dirty="0"/>
              <a:t>type</a:t>
            </a:r>
            <a:r>
              <a:rPr lang="en-US" dirty="0"/>
              <a:t> property provides a classification for an object. Its value is defined as a JSON string.</a:t>
            </a:r>
          </a:p>
          <a:p>
            <a:r>
              <a:rPr lang="en-US" dirty="0"/>
              <a:t>A </a:t>
            </a:r>
            <a:r>
              <a:rPr lang="en-US" b="1" dirty="0"/>
              <a:t>label</a:t>
            </a:r>
            <a:r>
              <a:rPr lang="en-US" dirty="0"/>
              <a:t> property provides a text display for an object. Its value is defined as a JSON string.</a:t>
            </a:r>
          </a:p>
          <a:p>
            <a:r>
              <a:rPr lang="en-US" dirty="0"/>
              <a:t>A </a:t>
            </a:r>
            <a:r>
              <a:rPr lang="en-US" b="1" dirty="0"/>
              <a:t>directed</a:t>
            </a:r>
            <a:r>
              <a:rPr lang="en-US" dirty="0"/>
              <a:t> property provides the graph mode (e.g. directed or undirected). Its value is JSON true for directed and JSON false for undirected. This property default to JSON true indicating a directed graph.</a:t>
            </a:r>
          </a:p>
          <a:p>
            <a:r>
              <a:rPr lang="en-US" dirty="0"/>
              <a:t>A </a:t>
            </a:r>
            <a:r>
              <a:rPr lang="en-US" b="1" dirty="0"/>
              <a:t>nodes</a:t>
            </a:r>
            <a:r>
              <a:rPr lang="en-US" dirty="0"/>
              <a:t> property provides the nodes in the graph. Its value is an array of node object_.</a:t>
            </a:r>
          </a:p>
          <a:p>
            <a:r>
              <a:rPr lang="en-US" dirty="0"/>
              <a:t>An </a:t>
            </a:r>
            <a:r>
              <a:rPr lang="en-US" b="1" dirty="0"/>
              <a:t>edges</a:t>
            </a:r>
            <a:r>
              <a:rPr lang="en-US" dirty="0"/>
              <a:t> property provides the edges in the graph. Its value is an array of edge object_.</a:t>
            </a:r>
          </a:p>
          <a:p>
            <a:r>
              <a:rPr lang="en-US" dirty="0"/>
              <a:t>A </a:t>
            </a:r>
            <a:r>
              <a:rPr lang="en-US" b="1" dirty="0"/>
              <a:t>metadata</a:t>
            </a:r>
            <a:r>
              <a:rPr lang="en-US" dirty="0"/>
              <a:t> property allows for custom data on an object. Its values is defined as a JSON object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i="1" dirty="0"/>
              <a:t>graphs </a:t>
            </a:r>
            <a:r>
              <a:rPr lang="en-US" b="1" i="1" dirty="0" smtClean="0"/>
              <a:t>object:</a:t>
            </a:r>
            <a:endParaRPr lang="en-US" b="1" i="1" dirty="0"/>
          </a:p>
          <a:p>
            <a:pPr marL="0" indent="0">
              <a:buNone/>
            </a:pPr>
            <a:r>
              <a:rPr lang="en-US" dirty="0"/>
              <a:t>A graphs object groups zero or more graph object_ into one JSON document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The graphs object_ is defined as a JSON array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i="1" dirty="0"/>
              <a:t>graphs </a:t>
            </a:r>
            <a:r>
              <a:rPr lang="en-US" b="1" i="1" dirty="0" smtClean="0"/>
              <a:t>properties:</a:t>
            </a:r>
            <a:endParaRPr lang="en-US" b="1" i="1" dirty="0"/>
          </a:p>
          <a:p>
            <a:r>
              <a:rPr lang="en-US" dirty="0"/>
              <a:t>A </a:t>
            </a:r>
            <a:r>
              <a:rPr lang="en-US" b="1" dirty="0"/>
              <a:t>type</a:t>
            </a:r>
            <a:r>
              <a:rPr lang="en-US" dirty="0"/>
              <a:t> property provides a classification for an object. Its value is defined as a JSON string.</a:t>
            </a:r>
          </a:p>
          <a:p>
            <a:r>
              <a:rPr lang="en-US" dirty="0"/>
              <a:t>A </a:t>
            </a:r>
            <a:r>
              <a:rPr lang="en-US" b="1" dirty="0"/>
              <a:t>label</a:t>
            </a:r>
            <a:r>
              <a:rPr lang="en-US" dirty="0"/>
              <a:t> property provides a text display for an object. Its value is defined as a JSON string.</a:t>
            </a:r>
          </a:p>
          <a:p>
            <a:r>
              <a:rPr lang="en-US" dirty="0"/>
              <a:t>A </a:t>
            </a:r>
            <a:r>
              <a:rPr lang="en-US" b="1" dirty="0"/>
              <a:t>metadata</a:t>
            </a:r>
            <a:r>
              <a:rPr lang="en-US" dirty="0"/>
              <a:t> property allows for custom data on an object. Its values is defined as a JSON object.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56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JSON Spec in the Astra Data Exchange format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"info": {</a:t>
            </a:r>
          </a:p>
          <a:p>
            <a:pPr marL="0" indent="0">
              <a:buNone/>
            </a:pPr>
            <a:r>
              <a:rPr lang="en-US" dirty="0"/>
              <a:t>        "</a:t>
            </a:r>
            <a:r>
              <a:rPr lang="en-US" dirty="0" err="1"/>
              <a:t>userId</a:t>
            </a:r>
            <a:r>
              <a:rPr lang="en-US" dirty="0"/>
              <a:t>": "</a:t>
            </a:r>
            <a:r>
              <a:rPr lang="en-US" dirty="0" err="1"/>
              <a:t>alexmy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    "</a:t>
            </a:r>
            <a:r>
              <a:rPr lang="en-US" dirty="0" err="1"/>
              <a:t>appId</a:t>
            </a:r>
            <a:r>
              <a:rPr lang="en-US" dirty="0"/>
              <a:t>": "Astra",</a:t>
            </a:r>
          </a:p>
          <a:p>
            <a:pPr marL="0" indent="0">
              <a:buNone/>
            </a:pPr>
            <a:r>
              <a:rPr lang="en-US" dirty="0"/>
              <a:t>        "version": 1,</a:t>
            </a:r>
          </a:p>
          <a:p>
            <a:pPr marL="0" indent="0">
              <a:buNone/>
            </a:pPr>
            <a:r>
              <a:rPr lang="en-US" dirty="0"/>
              <a:t>        "</a:t>
            </a:r>
            <a:r>
              <a:rPr lang="en-US" dirty="0" err="1"/>
              <a:t>serviceId</a:t>
            </a:r>
            <a:r>
              <a:rPr lang="en-US" dirty="0"/>
              <a:t>": "</a:t>
            </a:r>
            <a:r>
              <a:rPr lang="en-US" dirty="0" err="1" smtClean="0"/>
              <a:t>com.rokittech.astra.ml.agent.batch.GraphPipeProcessor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},</a:t>
            </a:r>
          </a:p>
          <a:p>
            <a:pPr marL="0" indent="0">
              <a:buNone/>
            </a:pPr>
            <a:r>
              <a:rPr lang="en-US" dirty="0"/>
              <a:t>    "data": "</a:t>
            </a:r>
            <a:r>
              <a:rPr lang="en-US" dirty="0" smtClean="0"/>
              <a:t>{&lt;</a:t>
            </a:r>
            <a:r>
              <a:rPr lang="en-US" b="1" i="1" dirty="0" smtClean="0"/>
              <a:t>JSON Metadata Graph is going here</a:t>
            </a:r>
            <a:r>
              <a:rPr lang="en-US" dirty="0" smtClean="0"/>
              <a:t>&gt;}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"options":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“</a:t>
            </a:r>
            <a:r>
              <a:rPr lang="en-US" dirty="0" err="1" smtClean="0"/>
              <a:t>sourcedb</a:t>
            </a:r>
            <a:r>
              <a:rPr lang="en-US" dirty="0" smtClean="0"/>
              <a:t>”:”&lt;connection object from </a:t>
            </a:r>
            <a:r>
              <a:rPr lang="en-US" dirty="0" err="1" smtClean="0"/>
              <a:t>AstraEnvTool</a:t>
            </a:r>
            <a:r>
              <a:rPr lang="en-US" dirty="0" smtClean="0"/>
              <a:t>&gt;”,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“</a:t>
            </a:r>
            <a:r>
              <a:rPr lang="en-US" dirty="0" err="1" smtClean="0"/>
              <a:t>targetdb</a:t>
            </a:r>
            <a:r>
              <a:rPr lang="en-US" dirty="0"/>
              <a:t>”:”&lt;connection object from </a:t>
            </a:r>
            <a:r>
              <a:rPr lang="en-US" dirty="0" err="1"/>
              <a:t>AstraEnvTool</a:t>
            </a:r>
            <a:r>
              <a:rPr lang="en-US" dirty="0"/>
              <a:t>&gt;”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"</a:t>
            </a:r>
            <a:r>
              <a:rPr lang="en-US" dirty="0"/>
              <a:t>command": </a:t>
            </a:r>
            <a:r>
              <a:rPr lang="en-US" dirty="0" smtClean="0"/>
              <a:t>”single-</a:t>
            </a:r>
            <a:r>
              <a:rPr lang="en-US" dirty="0" err="1" smtClean="0"/>
              <a:t>db</a:t>
            </a:r>
            <a:r>
              <a:rPr lang="en-US" dirty="0" smtClean="0"/>
              <a:t>-</a:t>
            </a:r>
            <a:r>
              <a:rPr lang="en-US" dirty="0" err="1" smtClean="0"/>
              <a:t>subsetting</a:t>
            </a:r>
            <a:r>
              <a:rPr lang="en-US" dirty="0" smtClean="0"/>
              <a:t>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640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Sub-setting Processor Architecture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7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91966" y="846607"/>
            <a:ext cx="1169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Astra Core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39212" y="846607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Astra Processors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57658" y="1364788"/>
            <a:ext cx="1357640" cy="2992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Graph Bean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357658" y="2009825"/>
            <a:ext cx="1802888" cy="3885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GraphProcessingContext</a:t>
            </a:r>
            <a:endParaRPr lang="en-US" sz="1200" dirty="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328426" y="1269910"/>
            <a:ext cx="36496" cy="3255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31185" y="1364788"/>
            <a:ext cx="1357640" cy="2992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GraphJsonProc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2831185" y="2009825"/>
            <a:ext cx="1854864" cy="15225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GraphProc: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Creating instance of GraphProcessingContext;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Implementing processStartNode( )  and processNode( ) methods;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Provide Environment parameters;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Execute Context.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5043707" y="754637"/>
            <a:ext cx="387963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Architecture of Sub-setting processor is greatly inspired by Apache Flink.</a:t>
            </a:r>
          </a:p>
          <a:p>
            <a:r>
              <a:rPr lang="en-US" sz="1200" dirty="0" smtClean="0"/>
              <a:t>The execution environment in Flink is represented by ExecutionEnvironment. We can specify data processing by configuring this environment.</a:t>
            </a:r>
          </a:p>
          <a:p>
            <a:r>
              <a:rPr lang="en-US" sz="1200" dirty="0" smtClean="0"/>
              <a:t>GraphProcesingContext serves the same purpose and it provides a generic environment to execute a wide class of data processing that can be defined as a graph.</a:t>
            </a:r>
          </a:p>
          <a:p>
            <a:r>
              <a:rPr lang="en-US" sz="1200" dirty="0" smtClean="0"/>
              <a:t>Sub-setting is just a special case of a such graph defined data processing. </a:t>
            </a:r>
          </a:p>
          <a:p>
            <a:r>
              <a:rPr lang="en-US" sz="1200" dirty="0" smtClean="0"/>
              <a:t>The execution environment of GraphProcessingContext is exposed by two methods: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Map&lt;String, Object&gt; </a:t>
            </a:r>
            <a:r>
              <a:rPr lang="en-US" sz="1000" dirty="0" err="1" smtClean="0"/>
              <a:t>getEnv</a:t>
            </a:r>
            <a:r>
              <a:rPr lang="en-US" sz="1000" dirty="0" smtClean="0"/>
              <a:t>();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/>
              <a:t>v</a:t>
            </a:r>
            <a:r>
              <a:rPr lang="en-US" sz="1000" dirty="0" smtClean="0"/>
              <a:t>oid </a:t>
            </a:r>
            <a:r>
              <a:rPr lang="en-US" sz="1000" dirty="0" err="1" smtClean="0"/>
              <a:t>setEnv</a:t>
            </a:r>
            <a:r>
              <a:rPr lang="en-US" sz="1000" dirty="0" smtClean="0"/>
              <a:t>(Map&lt;String, Object&gt; </a:t>
            </a:r>
            <a:r>
              <a:rPr lang="en-US" sz="1000" dirty="0" err="1" smtClean="0"/>
              <a:t>env</a:t>
            </a:r>
            <a:r>
              <a:rPr lang="en-US" sz="1000" dirty="0" smtClean="0"/>
              <a:t>); </a:t>
            </a:r>
          </a:p>
          <a:p>
            <a:r>
              <a:rPr lang="en-US" sz="1200" dirty="0" smtClean="0"/>
              <a:t>You can use this map to provide parameters like connection string, file location and so on.</a:t>
            </a:r>
          </a:p>
          <a:p>
            <a:endParaRPr lang="en-US" sz="1200" dirty="0"/>
          </a:p>
          <a:p>
            <a:r>
              <a:rPr lang="en-US" sz="1200" dirty="0" smtClean="0"/>
              <a:t>To define a specific processing for each node we have to implement two abstract methods: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T processStartNode(Node node, Processor processor);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 smtClean="0"/>
              <a:t>T processNode(Node node, Processor processor).</a:t>
            </a:r>
            <a:endParaRPr lang="en-US" sz="1000" dirty="0"/>
          </a:p>
        </p:txBody>
      </p:sp>
      <p:cxnSp>
        <p:nvCxnSpPr>
          <p:cNvPr id="15" name="Straight Arrow Connector 14"/>
          <p:cNvCxnSpPr>
            <a:stCxn id="7" idx="3"/>
            <a:endCxn id="11" idx="1"/>
          </p:cNvCxnSpPr>
          <p:nvPr/>
        </p:nvCxnSpPr>
        <p:spPr>
          <a:xfrm>
            <a:off x="1715298" y="1514404"/>
            <a:ext cx="111588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2"/>
          </p:cNvCxnSpPr>
          <p:nvPr/>
        </p:nvCxnSpPr>
        <p:spPr>
          <a:xfrm>
            <a:off x="3510005" y="1664020"/>
            <a:ext cx="2776" cy="3458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3"/>
          </p:cNvCxnSpPr>
          <p:nvPr/>
        </p:nvCxnSpPr>
        <p:spPr>
          <a:xfrm>
            <a:off x="2160546" y="2204096"/>
            <a:ext cx="670639" cy="18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38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Astra Sub-setting processor implementation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5614" y="705607"/>
            <a:ext cx="3167724" cy="38890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 smtClean="0"/>
              <a:t>Here is a sample code that demonstrate the use of GraphProcessingContext.</a:t>
            </a:r>
          </a:p>
          <a:p>
            <a:pPr marL="0" indent="0">
              <a:buNone/>
            </a:pPr>
            <a:r>
              <a:rPr lang="en-US" sz="1200" dirty="0" smtClean="0"/>
              <a:t>In the section 1 we are creating the instance of GraphProcessingContext – ctx, by implementing two methods processStartNode and processNode.</a:t>
            </a:r>
          </a:p>
          <a:p>
            <a:pPr marL="0" indent="0">
              <a:buNone/>
            </a:pPr>
            <a:r>
              <a:rPr lang="en-US" sz="1200" dirty="0" smtClean="0"/>
              <a:t>List&lt;Integer&gt; is a return result produced by those two methods.</a:t>
            </a:r>
          </a:p>
          <a:p>
            <a:pPr marL="0" indent="0">
              <a:buNone/>
            </a:pPr>
            <a:r>
              <a:rPr lang="en-US" sz="1200" dirty="0" smtClean="0"/>
              <a:t>The “data” argument in the constructor may be a Graph object or JSON string of the graph that we are going to process.</a:t>
            </a:r>
          </a:p>
          <a:p>
            <a:pPr marL="0" indent="0">
              <a:buNone/>
            </a:pPr>
            <a:r>
              <a:rPr lang="en-US" sz="1200" dirty="0" smtClean="0"/>
              <a:t>In our case we are using JSON string that is represented Metadata graph of the database. The implementations of those methods are totally dummy.</a:t>
            </a:r>
          </a:p>
          <a:p>
            <a:pPr marL="0" indent="0">
              <a:buNone/>
            </a:pPr>
            <a:r>
              <a:rPr lang="en-US" sz="1200" dirty="0" smtClean="0"/>
              <a:t>In the section 2 we are acquiring connection strings for source and target databases and then we are passing connection objects to the ctx.</a:t>
            </a:r>
          </a:p>
          <a:p>
            <a:pPr marL="0" indent="0">
              <a:buNone/>
            </a:pPr>
            <a:r>
              <a:rPr lang="en-US" sz="1200" dirty="0" smtClean="0"/>
              <a:t>Finally in the section 3 we are running specified context.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8</a:t>
            </a:fld>
            <a:endParaRPr lang="ru-RU" dirty="0"/>
          </a:p>
        </p:txBody>
      </p:sp>
      <p:pic>
        <p:nvPicPr>
          <p:cNvPr id="5" name="Picture 4" descr="Screen Shot 2016-04-13 at 10.08.2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85" y="705607"/>
            <a:ext cx="5382826" cy="36691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19343" y="802163"/>
            <a:ext cx="4998101" cy="1886569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75197" y="2733298"/>
            <a:ext cx="4998101" cy="1351794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78759" y="4107373"/>
            <a:ext cx="4998101" cy="248680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359850" y="1648891"/>
            <a:ext cx="275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1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79450" y="3205076"/>
            <a:ext cx="275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2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59850" y="4066983"/>
            <a:ext cx="275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3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84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Graph processing algorithm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9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802163"/>
            <a:ext cx="84661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We are using a non-standard and original algorithm to perform data processing associated with each graph node (at least I did not find an exact analog of the provided algorithm on Internet yet). The main advantage of this algorithm is that it doesn’t use a direct traversal over graph nodes, instead it uses buckets to define an execution status for each node. Buckets allow us to implement an asynchronous and a potentially distributed data processing.</a:t>
            </a:r>
          </a:p>
          <a:p>
            <a:r>
              <a:rPr lang="en-US" sz="1000" dirty="0" smtClean="0"/>
              <a:t>To manage processing we are using 5 colored queues (we call them buckets). The goal of each node in the graph is to move from the bucket marked as </a:t>
            </a:r>
            <a:r>
              <a:rPr lang="en-US" sz="1000" dirty="0"/>
              <a:t>UNTOUCHED </a:t>
            </a:r>
            <a:r>
              <a:rPr lang="en-US" sz="1000" dirty="0" smtClean="0"/>
              <a:t>to the BLACK bucket. Each bucket by the way is just a FIFO queue.</a:t>
            </a:r>
            <a:endParaRPr lang="en-US" sz="1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479" y="1928839"/>
            <a:ext cx="641936" cy="641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4490" y="2584751"/>
            <a:ext cx="760761" cy="20054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untouched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414" y="1928839"/>
            <a:ext cx="641936" cy="6419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91643" y="2584754"/>
            <a:ext cx="760761" cy="2005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GREY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60" y="1928839"/>
            <a:ext cx="641936" cy="6419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59342" y="2603322"/>
            <a:ext cx="760761" cy="20054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WHITE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685" y="1494005"/>
            <a:ext cx="641936" cy="6419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17696" y="2149917"/>
            <a:ext cx="760761" cy="200541"/>
          </a:xfrm>
          <a:prstGeom prst="rect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RED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33" y="1951132"/>
            <a:ext cx="641936" cy="6419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17344" y="2607044"/>
            <a:ext cx="760761" cy="200541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bg1">
                    <a:lumMod val="85000"/>
                  </a:schemeClr>
                </a:solidFill>
              </a:rPr>
              <a:t>BLACK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1745251" y="2354489"/>
            <a:ext cx="602174" cy="74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108186" y="2347063"/>
            <a:ext cx="602174" cy="74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352296" y="2428067"/>
            <a:ext cx="25170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333579" y="1827149"/>
            <a:ext cx="984117" cy="3022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078457" y="1827149"/>
            <a:ext cx="790876" cy="393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1" y="2956130"/>
            <a:ext cx="846613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0. At the beginning all nodes are in the UNTOUCHED bucket.</a:t>
            </a:r>
          </a:p>
          <a:p>
            <a:r>
              <a:rPr lang="en-US" sz="1000" dirty="0" smtClean="0"/>
              <a:t>1. We are starting from the start node(s). To start processing we are moving start node(s) to the WHITE bucket. Nodes in WHITE bucket are waiting to be processed;</a:t>
            </a:r>
          </a:p>
          <a:p>
            <a:r>
              <a:rPr lang="en-US" sz="1000" dirty="0" smtClean="0"/>
              <a:t>2. We are picking a node from the bottom of the WHITE bucket and moving to the GREY bucket to start an actual processing associated with a given node;</a:t>
            </a:r>
          </a:p>
          <a:p>
            <a:r>
              <a:rPr lang="en-US" sz="1000" dirty="0" smtClean="0"/>
              <a:t>3. By the end of processing node may go to BLACK or RED bucket. If the node has no in-nodes from UNTOUCHED bucket, then it goes to BLACK bucket, otherwise it goes to the RED bucket (in-nodes are the nodes that have a given node as a target in their edges). At the same time we are moving all out-nodes of the current node </a:t>
            </a:r>
            <a:r>
              <a:rPr lang="en-US" sz="1000" dirty="0"/>
              <a:t>from UNTOUCHED bucket </a:t>
            </a:r>
            <a:r>
              <a:rPr lang="en-US" sz="1000" dirty="0" smtClean="0"/>
              <a:t>to the WHITE bucket (out-nodes are nodes that have a current node as a source in their edges);</a:t>
            </a:r>
          </a:p>
          <a:p>
            <a:pPr marL="228600" indent="-228600">
              <a:buAutoNum type="arabicPeriod" startAt="4"/>
            </a:pPr>
            <a:r>
              <a:rPr lang="en-US" sz="1000" dirty="0" smtClean="0"/>
              <a:t>After emptying WHITE bucket we are moving to the RED bucket. (Remember, WHITE bucket may be populated with a new nodes according to the p. 3.):</a:t>
            </a:r>
          </a:p>
          <a:p>
            <a:pPr marL="571500" lvl="1" indent="-228600">
              <a:buFont typeface="Arial"/>
              <a:buChar char="•"/>
            </a:pPr>
            <a:r>
              <a:rPr lang="en-US" sz="1000" dirty="0" smtClean="0"/>
              <a:t>First we are trying to detect all in-nodes that are still in UNTOUCHED bucket for each node in the RED bucket and move them to the WHITE bucket;</a:t>
            </a:r>
          </a:p>
          <a:p>
            <a:pPr marL="571500" lvl="1" indent="-228600">
              <a:buFont typeface="Arial"/>
              <a:buChar char="•"/>
            </a:pPr>
            <a:r>
              <a:rPr lang="en-US" sz="1000" dirty="0" smtClean="0"/>
              <a:t>Then we can move </a:t>
            </a:r>
            <a:r>
              <a:rPr lang="en-US" sz="1000" dirty="0"/>
              <a:t>nodes from </a:t>
            </a:r>
            <a:r>
              <a:rPr lang="en-US" sz="1000" dirty="0" smtClean="0"/>
              <a:t>RED bucket to the BLACK bucket;</a:t>
            </a:r>
          </a:p>
          <a:p>
            <a:pPr marL="571500" lvl="1" indent="-228600">
              <a:buFont typeface="Arial"/>
              <a:buChar char="•"/>
            </a:pPr>
            <a:r>
              <a:rPr lang="en-US" sz="1000" dirty="0" smtClean="0"/>
              <a:t>Finally we are switching to the p. 2.</a:t>
            </a:r>
            <a:endParaRPr lang="en-US" sz="1000" dirty="0"/>
          </a:p>
        </p:txBody>
      </p:sp>
      <p:cxnSp>
        <p:nvCxnSpPr>
          <p:cNvPr id="29" name="Straight Arrow Connector 28"/>
          <p:cNvCxnSpPr>
            <a:endCxn id="8" idx="0"/>
          </p:cNvCxnSpPr>
          <p:nvPr/>
        </p:nvCxnSpPr>
        <p:spPr>
          <a:xfrm>
            <a:off x="2720382" y="1663937"/>
            <a:ext cx="0" cy="2649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720382" y="1663937"/>
            <a:ext cx="25973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66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References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2028"/>
            <a:ext cx="8229600" cy="189753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_JSON </a:t>
            </a:r>
            <a:r>
              <a:rPr lang="en-US" dirty="0"/>
              <a:t>graph schema: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jsongraph</a:t>
            </a:r>
            <a:r>
              <a:rPr lang="en-US" dirty="0"/>
              <a:t>/</a:t>
            </a:r>
            <a:r>
              <a:rPr lang="en-US" dirty="0" err="1"/>
              <a:t>json</a:t>
            </a:r>
            <a:r>
              <a:rPr lang="en-US" dirty="0"/>
              <a:t>-graph-specification/blob/master/</a:t>
            </a:r>
            <a:r>
              <a:rPr lang="en-US" dirty="0" err="1"/>
              <a:t>json</a:t>
            </a:r>
            <a:r>
              <a:rPr lang="en-US" dirty="0"/>
              <a:t>-graph-</a:t>
            </a:r>
            <a:r>
              <a:rPr lang="en-US" dirty="0" err="1" smtClean="0"/>
              <a:t>schema.json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_JSON </a:t>
            </a:r>
            <a:r>
              <a:rPr lang="en-US" dirty="0"/>
              <a:t>schema: http://</a:t>
            </a:r>
            <a:r>
              <a:rPr lang="en-US" dirty="0" err="1"/>
              <a:t>json-</a:t>
            </a:r>
            <a:r>
              <a:rPr lang="en-US" dirty="0" err="1" smtClean="0"/>
              <a:t>schema.org</a:t>
            </a:r>
            <a:r>
              <a:rPr lang="en-US" dirty="0" smtClean="0"/>
              <a:t>;</a:t>
            </a:r>
          </a:p>
          <a:p>
            <a:r>
              <a:rPr lang="en-US" dirty="0" smtClean="0"/>
              <a:t>_real </a:t>
            </a:r>
            <a:r>
              <a:rPr lang="en-US" dirty="0"/>
              <a:t>world examples: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jsongraph</a:t>
            </a:r>
            <a:r>
              <a:rPr lang="en-US" dirty="0"/>
              <a:t>/</a:t>
            </a:r>
            <a:r>
              <a:rPr lang="en-US" dirty="0" err="1"/>
              <a:t>json</a:t>
            </a:r>
            <a:r>
              <a:rPr lang="en-US" dirty="0"/>
              <a:t>-graph-specification/tree/master/</a:t>
            </a:r>
            <a:r>
              <a:rPr lang="en-US" dirty="0" smtClean="0"/>
              <a:t>examples; </a:t>
            </a:r>
          </a:p>
          <a:p>
            <a:r>
              <a:rPr lang="en-US" dirty="0" smtClean="0"/>
              <a:t>_TESTING</a:t>
            </a:r>
            <a:r>
              <a:rPr lang="en-US" dirty="0"/>
              <a:t>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jsongraph</a:t>
            </a:r>
            <a:r>
              <a:rPr lang="en-US" dirty="0"/>
              <a:t>/</a:t>
            </a:r>
            <a:r>
              <a:rPr lang="en-US" dirty="0" err="1"/>
              <a:t>json</a:t>
            </a:r>
            <a:r>
              <a:rPr lang="en-US" dirty="0"/>
              <a:t>-graph-specification/blob/master/</a:t>
            </a:r>
            <a:r>
              <a:rPr lang="en-US" dirty="0" err="1" smtClean="0"/>
              <a:t>TESTING.rst</a:t>
            </a:r>
            <a:r>
              <a:rPr lang="en-US" dirty="0" smtClean="0"/>
              <a:t>;</a:t>
            </a:r>
            <a:endParaRPr lang="en-US" dirty="0" smtClean="0"/>
          </a:p>
          <a:p>
            <a:r>
              <a:rPr lang="en-US" dirty="0" smtClean="0"/>
              <a:t>_RFC </a:t>
            </a:r>
            <a:r>
              <a:rPr lang="en-US" dirty="0"/>
              <a:t>6839: https://</a:t>
            </a:r>
            <a:r>
              <a:rPr lang="en-US" dirty="0" err="1"/>
              <a:t>tools.ietf.org</a:t>
            </a:r>
            <a:r>
              <a:rPr lang="en-US" dirty="0"/>
              <a:t>/html/</a:t>
            </a:r>
            <a:r>
              <a:rPr lang="en-US" dirty="0" smtClean="0"/>
              <a:t>rfc6839; </a:t>
            </a:r>
          </a:p>
          <a:p>
            <a:r>
              <a:rPr lang="en-US" dirty="0" smtClean="0"/>
              <a:t>_RFC </a:t>
            </a:r>
            <a:r>
              <a:rPr lang="en-US" dirty="0"/>
              <a:t>6906: https://</a:t>
            </a:r>
            <a:r>
              <a:rPr lang="en-US" dirty="0" err="1"/>
              <a:t>tools.ietf.org</a:t>
            </a:r>
            <a:r>
              <a:rPr lang="en-US" dirty="0"/>
              <a:t>/html/</a:t>
            </a:r>
            <a:r>
              <a:rPr lang="en-US" dirty="0" smtClean="0"/>
              <a:t>rfc6906;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E3726-F5CF-4879-A646-1587043CADEB}" type="slidenum">
              <a:rPr lang="en-US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239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AstraPlatform_2016-03-2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AstraPlatform_2016-03-25.thmx</Template>
  <TotalTime>13038</TotalTime>
  <Words>2159</Words>
  <Application>Microsoft Macintosh PowerPoint</Application>
  <PresentationFormat>On-screen Show (16:9)</PresentationFormat>
  <Paragraphs>171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AstraPlatform_2016-03-25</vt:lpstr>
      <vt:lpstr>1_Office Theme</vt:lpstr>
      <vt:lpstr>2_Office Theme</vt:lpstr>
      <vt:lpstr>Rokitt Astra platform</vt:lpstr>
      <vt:lpstr>Astra platform. Data sub-setting support</vt:lpstr>
      <vt:lpstr>JSON presentation of the Metadata Graph</vt:lpstr>
      <vt:lpstr>Example of JSON Graph specification</vt:lpstr>
      <vt:lpstr>JSON Graph Spec. Graph(s) object and properties</vt:lpstr>
      <vt:lpstr>JSON Spec in the Astra Data Exchange format</vt:lpstr>
      <vt:lpstr>Sub-setting Processor Architecture</vt:lpstr>
      <vt:lpstr>Astra Sub-setting processor implementation</vt:lpstr>
      <vt:lpstr>Graph processing algorithm</vt:lpstr>
      <vt:lpstr>References</vt:lpstr>
    </vt:vector>
  </TitlesOfParts>
  <Company>ROkITT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Rokitt Astra platform</dc:title>
  <dc:creator>Alex A. Mylnikov</dc:creator>
  <cp:lastModifiedBy>Alex A. Mylnikov</cp:lastModifiedBy>
  <cp:revision>36</cp:revision>
  <dcterms:created xsi:type="dcterms:W3CDTF">2016-04-04T14:38:44Z</dcterms:created>
  <dcterms:modified xsi:type="dcterms:W3CDTF">2016-04-13T15:56:48Z</dcterms:modified>
</cp:coreProperties>
</file>